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Calibri (MS) Bold" charset="1" panose="020F0702030404030204"/>
      <p:regular r:id="rId10"/>
    </p:embeddedFont>
    <p:embeddedFont>
      <p:font typeface="Calibri (MS)" charset="1" panose="020F0502020204030204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Análise SWOT da Companhia do Metropolitano de São Paulo. Forças e fraquezas são fatores internos à organização; oportunidades e ameaças são fatores do ambiente externo. A análise evidencia como a melhoria da gestão da informação do portfólio atua diretamente sobre as fraquezas internas, aproveitando as oportunidades de digitalização do setor.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5800" y="411480"/>
            <a:ext cx="13030200" cy="754380"/>
            <a:chOff x="0" y="0"/>
            <a:chExt cx="17373600" cy="1005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7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559" r="0" b="-28655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7373600" cy="1120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Análise SWOT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5800" y="1165860"/>
            <a:ext cx="14813280" cy="411480"/>
            <a:chOff x="0" y="0"/>
            <a:chExt cx="1975104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51039" cy="548640"/>
            </a:xfrm>
            <a:custGeom>
              <a:avLst/>
              <a:gdLst/>
              <a:ahLst/>
              <a:cxnLst/>
              <a:rect r="r" b="b" t="t" l="l"/>
              <a:pathLst>
                <a:path h="54864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7510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5A66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Posicionamento da Companhia do Metropolitano de São Paulo no setor de mobilidade urbana sobre trilhos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275" y="1842135"/>
            <a:ext cx="8248650" cy="3790950"/>
            <a:chOff x="0" y="0"/>
            <a:chExt cx="10998200" cy="5054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98200" cy="5054600"/>
            </a:xfrm>
            <a:custGeom>
              <a:avLst/>
              <a:gdLst/>
              <a:ahLst/>
              <a:cxnLst/>
              <a:rect r="r" b="b" t="t" l="l"/>
              <a:pathLst>
                <a:path h="5054600" w="109982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814431" y="0"/>
                  </a:lnTo>
                  <a:cubicBezTo>
                    <a:pt x="10915904" y="0"/>
                    <a:pt x="10998200" y="82296"/>
                    <a:pt x="10998200" y="183769"/>
                  </a:cubicBezTo>
                  <a:lnTo>
                    <a:pt x="10998200" y="4870831"/>
                  </a:lnTo>
                  <a:cubicBezTo>
                    <a:pt x="10998200" y="4972304"/>
                    <a:pt x="10915904" y="5054600"/>
                    <a:pt x="10814431" y="5054600"/>
                  </a:cubicBezTo>
                  <a:lnTo>
                    <a:pt x="183769" y="5054600"/>
                  </a:lnTo>
                  <a:cubicBezTo>
                    <a:pt x="82296" y="5054600"/>
                    <a:pt x="0" y="4972304"/>
                    <a:pt x="0" y="4870831"/>
                  </a:cubicBezTo>
                  <a:close/>
                </a:path>
              </a:pathLst>
            </a:custGeom>
            <a:solidFill>
              <a:srgbClr val="EEF3F9"/>
            </a:solidFill>
            <a:ln w="19050" cap="sq">
              <a:solidFill>
                <a:srgbClr val="D7E2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05459" y="2143887"/>
            <a:ext cx="622554" cy="622554"/>
            <a:chOff x="0" y="0"/>
            <a:chExt cx="830072" cy="830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00844A"/>
            </a:solidFill>
            <a:ln w="19050" cap="sq">
              <a:solidFill>
                <a:srgbClr val="00844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14984" y="2153412"/>
            <a:ext cx="603504" cy="603504"/>
            <a:chOff x="0" y="0"/>
            <a:chExt cx="804672" cy="80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046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83080" y="2180844"/>
            <a:ext cx="6720840" cy="356616"/>
            <a:chOff x="0" y="0"/>
            <a:chExt cx="8961120" cy="475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61120" cy="475488"/>
            </a:xfrm>
            <a:custGeom>
              <a:avLst/>
              <a:gdLst/>
              <a:ahLst/>
              <a:cxnLst/>
              <a:rect r="r" b="b" t="t" l="l"/>
              <a:pathLst>
                <a:path h="47548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218" r="0" b="-31721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8961120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084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FORÇAS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83080" y="2537460"/>
            <a:ext cx="6720840" cy="301752"/>
            <a:chOff x="0" y="0"/>
            <a:chExt cx="8961120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96112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6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Fatores internos • Favoráveis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2976372"/>
            <a:ext cx="7475220" cy="2537460"/>
            <a:chOff x="0" y="0"/>
            <a:chExt cx="9966960" cy="3383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66960" cy="3383280"/>
            </a:xfrm>
            <a:custGeom>
              <a:avLst/>
              <a:gdLst/>
              <a:ahLst/>
              <a:cxnLst/>
              <a:rect r="r" b="b" t="t" l="l"/>
              <a:pathLst>
                <a:path h="338328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01" r="0" b="-74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966960" cy="3421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Operador consolidado de alta capacidade: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linhas próprias, 71,4 km e 63 estações, com cerca de 3 milhões de passageiros por dia.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Governança de portfólio estruturada: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PMO Corporativo (GPM) gere estratégia, portfólio, programas e indicadores, apoiado pelo normativo NOR-00-223.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tecnológica corporativa madura: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ecossistema Microsoft já implantado e sustentado pela equipe interna (SharePoint, Power BI, Copilot Studio).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58503" y="1842135"/>
            <a:ext cx="8248650" cy="3790950"/>
            <a:chOff x="0" y="0"/>
            <a:chExt cx="10998200" cy="5054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98200" cy="5054600"/>
            </a:xfrm>
            <a:custGeom>
              <a:avLst/>
              <a:gdLst/>
              <a:ahLst/>
              <a:cxnLst/>
              <a:rect r="r" b="b" t="t" l="l"/>
              <a:pathLst>
                <a:path h="5054600" w="109982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814431" y="0"/>
                  </a:lnTo>
                  <a:cubicBezTo>
                    <a:pt x="10915904" y="0"/>
                    <a:pt x="10998200" y="82296"/>
                    <a:pt x="10998200" y="183769"/>
                  </a:cubicBezTo>
                  <a:lnTo>
                    <a:pt x="10998200" y="4870831"/>
                  </a:lnTo>
                  <a:cubicBezTo>
                    <a:pt x="10998200" y="4972304"/>
                    <a:pt x="10915904" y="5054600"/>
                    <a:pt x="10814431" y="5054600"/>
                  </a:cubicBezTo>
                  <a:lnTo>
                    <a:pt x="183769" y="5054600"/>
                  </a:lnTo>
                  <a:cubicBezTo>
                    <a:pt x="82296" y="5054600"/>
                    <a:pt x="0" y="4972304"/>
                    <a:pt x="0" y="4870831"/>
                  </a:cubicBezTo>
                  <a:close/>
                </a:path>
              </a:pathLst>
            </a:custGeom>
            <a:solidFill>
              <a:srgbClr val="EEF3F9"/>
            </a:solidFill>
            <a:ln w="19050" cap="sq">
              <a:solidFill>
                <a:srgbClr val="D7E2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687687" y="2143887"/>
            <a:ext cx="622554" cy="622554"/>
            <a:chOff x="0" y="0"/>
            <a:chExt cx="830072" cy="830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D8352C"/>
            </a:solidFill>
            <a:ln w="19050" cap="sq">
              <a:solidFill>
                <a:srgbClr val="D8352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697212" y="2153412"/>
            <a:ext cx="603504" cy="603504"/>
            <a:chOff x="0" y="0"/>
            <a:chExt cx="804672" cy="8046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046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465308" y="2180844"/>
            <a:ext cx="6720840" cy="356616"/>
            <a:chOff x="0" y="0"/>
            <a:chExt cx="8961120" cy="4754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961120" cy="475488"/>
            </a:xfrm>
            <a:custGeom>
              <a:avLst/>
              <a:gdLst/>
              <a:ahLst/>
              <a:cxnLst/>
              <a:rect r="r" b="b" t="t" l="l"/>
              <a:pathLst>
                <a:path h="47548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218" r="0" b="-31721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961120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8352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FRAQUEZAS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465308" y="2537460"/>
            <a:ext cx="6720840" cy="301752"/>
            <a:chOff x="0" y="0"/>
            <a:chExt cx="8961120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96112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6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Fatores internos • Desfavoráveis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79508" y="2976372"/>
            <a:ext cx="7475220" cy="2537460"/>
            <a:chOff x="0" y="0"/>
            <a:chExt cx="9966960" cy="3383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66960" cy="3383280"/>
            </a:xfrm>
            <a:custGeom>
              <a:avLst/>
              <a:gdLst/>
              <a:ahLst/>
              <a:cxnLst/>
              <a:rect r="r" b="b" t="t" l="l"/>
              <a:pathLst>
                <a:path h="338328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01" r="0" b="-740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966960" cy="3421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Fragmentação da informação: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do portfólio distribuídos entre listas, documentos e planilhas, sem camada unificada de consulta.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Processos manuais e conhecimento tácito: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consolidação de status, balanços e relatórios depende de esforço humano e de profissionais experientes.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Ciclo de homologação restritivo: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novas tecnologias dependem do provisionamento pela GTI e da aprovação das áreas de compliance.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6275" y="5751195"/>
            <a:ext cx="8248650" cy="3790950"/>
            <a:chOff x="0" y="0"/>
            <a:chExt cx="10998200" cy="5054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98200" cy="5054600"/>
            </a:xfrm>
            <a:custGeom>
              <a:avLst/>
              <a:gdLst/>
              <a:ahLst/>
              <a:cxnLst/>
              <a:rect r="r" b="b" t="t" l="l"/>
              <a:pathLst>
                <a:path h="5054600" w="109982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814431" y="0"/>
                  </a:lnTo>
                  <a:cubicBezTo>
                    <a:pt x="10915904" y="0"/>
                    <a:pt x="10998200" y="82296"/>
                    <a:pt x="10998200" y="183769"/>
                  </a:cubicBezTo>
                  <a:lnTo>
                    <a:pt x="10998200" y="4870831"/>
                  </a:lnTo>
                  <a:cubicBezTo>
                    <a:pt x="10998200" y="4972304"/>
                    <a:pt x="10915904" y="5054600"/>
                    <a:pt x="10814431" y="5054600"/>
                  </a:cubicBezTo>
                  <a:lnTo>
                    <a:pt x="183769" y="5054600"/>
                  </a:lnTo>
                  <a:cubicBezTo>
                    <a:pt x="82296" y="5054600"/>
                    <a:pt x="0" y="4972304"/>
                    <a:pt x="0" y="4870831"/>
                  </a:cubicBezTo>
                  <a:close/>
                </a:path>
              </a:pathLst>
            </a:custGeom>
            <a:solidFill>
              <a:srgbClr val="EEF3F9"/>
            </a:solidFill>
            <a:ln w="19050" cap="sq">
              <a:solidFill>
                <a:srgbClr val="D7E2E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5459" y="6052947"/>
            <a:ext cx="622554" cy="622554"/>
            <a:chOff x="0" y="0"/>
            <a:chExt cx="830072" cy="8300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0455A1"/>
            </a:solidFill>
            <a:ln w="19050" cap="sq">
              <a:solidFill>
                <a:srgbClr val="0455A1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014984" y="6062472"/>
            <a:ext cx="603504" cy="603504"/>
            <a:chOff x="0" y="0"/>
            <a:chExt cx="804672" cy="8046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046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83080" y="6089904"/>
            <a:ext cx="6720840" cy="356616"/>
            <a:chOff x="0" y="0"/>
            <a:chExt cx="8961120" cy="47548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61120" cy="475488"/>
            </a:xfrm>
            <a:custGeom>
              <a:avLst/>
              <a:gdLst/>
              <a:ahLst/>
              <a:cxnLst/>
              <a:rect r="r" b="b" t="t" l="l"/>
              <a:pathLst>
                <a:path h="47548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218" r="0" b="-31721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8961120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455A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OPORTUNIDADES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83080" y="6446520"/>
            <a:ext cx="6720840" cy="301752"/>
            <a:chOff x="0" y="0"/>
            <a:chExt cx="8961120" cy="4023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96112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6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Fatores externos • Favoráveis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97280" y="6885432"/>
            <a:ext cx="7475220" cy="2537460"/>
            <a:chOff x="0" y="0"/>
            <a:chExt cx="9966960" cy="3383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66960" cy="3383280"/>
            </a:xfrm>
            <a:custGeom>
              <a:avLst/>
              <a:gdLst/>
              <a:ahLst/>
              <a:cxnLst/>
              <a:rect r="r" b="b" t="t" l="l"/>
              <a:pathLst>
                <a:path h="338328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01" r="0" b="-740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966960" cy="3421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Maturidade de PLN e IA generativa: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recursos já disponíveis no ecossistema Microsoft viabilizam a interação em linguagem natural.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Digitalização do setor metroviário: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automação de processos e uso de dados como apoio à gestão são tendência entre operadores de transporte.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 de transparência no setor público: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exigência de prestação de contas favorece investimentos em governança da informação.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58503" y="5751195"/>
            <a:ext cx="8248650" cy="3790950"/>
            <a:chOff x="0" y="0"/>
            <a:chExt cx="10998200" cy="5054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98200" cy="5054600"/>
            </a:xfrm>
            <a:custGeom>
              <a:avLst/>
              <a:gdLst/>
              <a:ahLst/>
              <a:cxnLst/>
              <a:rect r="r" b="b" t="t" l="l"/>
              <a:pathLst>
                <a:path h="5054600" w="1099820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814431" y="0"/>
                  </a:lnTo>
                  <a:cubicBezTo>
                    <a:pt x="10915904" y="0"/>
                    <a:pt x="10998200" y="82296"/>
                    <a:pt x="10998200" y="183769"/>
                  </a:cubicBezTo>
                  <a:lnTo>
                    <a:pt x="10998200" y="4870831"/>
                  </a:lnTo>
                  <a:cubicBezTo>
                    <a:pt x="10998200" y="4972304"/>
                    <a:pt x="10915904" y="5054600"/>
                    <a:pt x="10814431" y="5054600"/>
                  </a:cubicBezTo>
                  <a:lnTo>
                    <a:pt x="183769" y="5054600"/>
                  </a:lnTo>
                  <a:cubicBezTo>
                    <a:pt x="82296" y="5054600"/>
                    <a:pt x="0" y="4972304"/>
                    <a:pt x="0" y="4870831"/>
                  </a:cubicBezTo>
                  <a:close/>
                </a:path>
              </a:pathLst>
            </a:custGeom>
            <a:solidFill>
              <a:srgbClr val="EEF3F9"/>
            </a:solidFill>
            <a:ln w="19050" cap="sq">
              <a:solidFill>
                <a:srgbClr val="D7E2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9687687" y="6052947"/>
            <a:ext cx="622554" cy="622554"/>
            <a:chOff x="0" y="0"/>
            <a:chExt cx="830072" cy="8300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0072" cy="830072"/>
            </a:xfrm>
            <a:custGeom>
              <a:avLst/>
              <a:gdLst/>
              <a:ahLst/>
              <a:cxnLst/>
              <a:rect r="r" b="b" t="t" l="l"/>
              <a:pathLst>
                <a:path h="830072" w="830072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cubicBezTo>
                    <a:pt x="644271" y="0"/>
                    <a:pt x="830072" y="185801"/>
                    <a:pt x="830072" y="415036"/>
                  </a:cubicBezTo>
                  <a:cubicBezTo>
                    <a:pt x="830072" y="644271"/>
                    <a:pt x="644271" y="830072"/>
                    <a:pt x="415036" y="830072"/>
                  </a:cubicBezTo>
                  <a:cubicBezTo>
                    <a:pt x="185801" y="830072"/>
                    <a:pt x="0" y="644271"/>
                    <a:pt x="0" y="415036"/>
                  </a:cubicBezTo>
                  <a:close/>
                </a:path>
              </a:pathLst>
            </a:custGeom>
            <a:solidFill>
              <a:srgbClr val="B57F00"/>
            </a:solidFill>
            <a:ln w="19050" cap="sq">
              <a:solidFill>
                <a:srgbClr val="B57F0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697212" y="6062472"/>
            <a:ext cx="603504" cy="603504"/>
            <a:chOff x="0" y="0"/>
            <a:chExt cx="804672" cy="8046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04672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465308" y="6089904"/>
            <a:ext cx="6720840" cy="356616"/>
            <a:chOff x="0" y="0"/>
            <a:chExt cx="8961120" cy="4754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961120" cy="475488"/>
            </a:xfrm>
            <a:custGeom>
              <a:avLst/>
              <a:gdLst/>
              <a:ahLst/>
              <a:cxnLst/>
              <a:rect r="r" b="b" t="t" l="l"/>
              <a:pathLst>
                <a:path h="47548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7218" r="0" b="-317218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8961120" cy="532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B57F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AMEAÇAS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465308" y="6446520"/>
            <a:ext cx="6720840" cy="301752"/>
            <a:chOff x="0" y="0"/>
            <a:chExt cx="8961120" cy="4023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961120" cy="402336"/>
            </a:xfrm>
            <a:custGeom>
              <a:avLst/>
              <a:gdLst/>
              <a:ahLst/>
              <a:cxnLst/>
              <a:rect r="r" b="b" t="t" l="l"/>
              <a:pathLst>
                <a:path h="4023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8961120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A667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Fatores externos • Desfavoráveis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779508" y="6885432"/>
            <a:ext cx="7475220" cy="2537460"/>
            <a:chOff x="0" y="0"/>
            <a:chExt cx="9966960" cy="3383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966960" cy="3383280"/>
            </a:xfrm>
            <a:custGeom>
              <a:avLst/>
              <a:gdLst/>
              <a:ahLst/>
              <a:cxnLst/>
              <a:rect r="r" b="b" t="t" l="l"/>
              <a:pathLst>
                <a:path h="338328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01" r="0" b="-740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966960" cy="3421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Exigências de confidencialidade e LGPD: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dados sensíveis não podem trafegar por serviços externos não homologados.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Dependência de orçamento público: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restrições fiscais podem postergar investimentos em modernização tecnológica.</a:t>
              </a:r>
            </a:p>
            <a:p>
              <a:pPr algn="l" marL="285036" indent="-142518" lvl="1">
                <a:lnSpc>
                  <a:spcPts val="2025"/>
                </a:lnSpc>
                <a:buFont typeface="Arial"/>
                <a:buChar char="•"/>
              </a:pPr>
              <a:r>
                <a:rPr lang="en-US" b="true" sz="1575">
                  <a:solidFill>
                    <a:srgbClr val="00306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Evolução acelerada das plataformas: </a:t>
              </a:r>
              <a:r>
                <a:rPr lang="en-US" sz="1575">
                  <a:solidFill>
                    <a:srgbClr val="3A4A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substituição futura da plataforma de portfólio pode exigir readequação das soluções.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85800" y="9669780"/>
            <a:ext cx="16870680" cy="342900"/>
            <a:chOff x="0" y="0"/>
            <a:chExt cx="22494240" cy="4572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2494239" cy="457200"/>
            </a:xfrm>
            <a:custGeom>
              <a:avLst/>
              <a:gdLst/>
              <a:ahLst/>
              <a:cxnLst/>
              <a:rect r="r" b="b" t="t" l="l"/>
              <a:pathLst>
                <a:path h="457200" w="22494239">
                  <a:moveTo>
                    <a:pt x="0" y="0"/>
                  </a:moveTo>
                  <a:lnTo>
                    <a:pt x="22494239" y="0"/>
                  </a:lnTo>
                  <a:lnTo>
                    <a:pt x="22494239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663" r="0" b="-908663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2249424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8A96A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Fontes: TAPI MOD7 — Agente de IA Portfólio de Projetos Metrô (REV2); Companhia do Metropolitano de São Paulo; elaboração dos autores, 2026.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4452012" y="411480"/>
            <a:ext cx="3104468" cy="815100"/>
          </a:xfrm>
          <a:custGeom>
            <a:avLst/>
            <a:gdLst/>
            <a:ahLst/>
            <a:cxnLst/>
            <a:rect r="r" b="b" t="t" l="l"/>
            <a:pathLst>
              <a:path h="815100" w="3104468">
                <a:moveTo>
                  <a:pt x="0" y="0"/>
                </a:moveTo>
                <a:lnTo>
                  <a:pt x="3104468" y="0"/>
                </a:lnTo>
                <a:lnTo>
                  <a:pt x="3104468" y="815100"/>
                </a:lnTo>
                <a:lnTo>
                  <a:pt x="0" y="815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DAHSHNPLV2E</dc:identifier>
  <dcterms:modified xsi:type="dcterms:W3CDTF">2011-08-01T06:04:30Z</dcterms:modified>
  <cp:revision>1</cp:revision>
  <dc:title>Problema_SWOT_Metro.pptx</dc:title>
</cp:coreProperties>
</file>